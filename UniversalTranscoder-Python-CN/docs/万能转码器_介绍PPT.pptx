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换算后封装名（长度示意）</c:v>
                </c:pt>
              </c:strCache>
            </c:strRef>
          </c:tx>
          <c:dPt>
            <c:idx val="0"/>
            <c:spPr>
              <a:solidFill>
                <a:srgbClr val="3EA6FF"/>
              </a:solidFill>
            </c:spPr>
          </c:dPt>
          <c:dPt>
            <c:idx val="1"/>
            <c:spPr>
              <a:solidFill>
                <a:srgbClr val="5BE0C0"/>
              </a:solidFill>
            </c:spPr>
          </c:dPt>
          <c:dPt>
            <c:idx val="2"/>
            <c:spPr>
              <a:solidFill>
                <a:srgbClr val="FFB454"/>
              </a:solidFill>
            </c:spPr>
          </c:dPt>
          <c:dPt>
            <c:idx val="3"/>
            <c:spPr>
              <a:solidFill>
                <a:srgbClr val="9A7BFF"/>
              </a:solidFill>
            </c:spPr>
          </c:dPt>
          <c:dPt>
            <c:idx val="4"/>
            <c:spPr>
              <a:solidFill>
                <a:srgbClr val="3EA6FF"/>
              </a:solidFill>
            </c:spPr>
          </c:dPt>
          <c:dPt>
            <c:idx val="5"/>
            <c:spPr>
              <a:solidFill>
                <a:srgbClr val="5BE0C0"/>
              </a:solidFill>
            </c:spPr>
          </c:dPt>
          <c:cat>
            <c:strRef>
              <c:f>Sheet1!$A$2:$A$7</c:f>
              <c:strCache>
                <c:ptCount val="6"/>
                <c:pt idx="0">
                  <c:v>mkv</c:v>
                </c:pt>
                <c:pt idx="1">
                  <c:v>ts</c:v>
                </c:pt>
                <c:pt idx="2">
                  <c:v>mpg</c:v>
                </c:pt>
                <c:pt idx="3">
                  <c:v>wmv</c:v>
                </c:pt>
                <c:pt idx="4">
                  <c:v>m4a</c:v>
                </c:pt>
                <c:pt idx="5">
                  <c:v>jpg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</c:v>
                </c:pt>
                <c:pt idx="1">
                  <c:v>6</c:v>
                </c:pt>
                <c:pt idx="2">
                  <c:v>4</c:v>
                </c:pt>
                <c:pt idx="3">
                  <c:v>3</c:v>
                </c:pt>
                <c:pt idx="4">
                  <c:v>4</c:v>
                </c:pt>
                <c:pt idx="5">
                  <c:v>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预设数量</c:v>
                </c:pt>
              </c:strCache>
            </c:strRef>
          </c:tx>
          <c:dPt>
            <c:idx val="0"/>
            <c:spPr>
              <a:solidFill>
                <a:srgbClr val="3EA6FF"/>
              </a:solidFill>
            </c:spPr>
          </c:dPt>
          <c:dPt>
            <c:idx val="1"/>
            <c:spPr>
              <a:solidFill>
                <a:srgbClr val="5BE0C0"/>
              </a:solidFill>
            </c:spPr>
          </c:dPt>
          <c:dPt>
            <c:idx val="2"/>
            <c:spPr>
              <a:solidFill>
                <a:srgbClr val="FFB454"/>
              </a:solidFill>
            </c:spPr>
          </c:dPt>
          <c:cat>
            <c:strRef>
              <c:f>Sheet1!$A$2:$A$4</c:f>
              <c:strCache>
                <c:ptCount val="3"/>
                <c:pt idx="0">
                  <c:v>视频</c:v>
                </c:pt>
                <c:pt idx="1">
                  <c:v>音频</c:v>
                </c:pt>
                <c:pt idx="2">
                  <c:v>图片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</c:v>
                </c:pt>
                <c:pt idx="1">
                  <c:v>11</c:v>
                </c:pt>
                <c:pt idx="2">
                  <c:v>10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通过项</c:v>
                </c:pt>
              </c:strCache>
            </c:strRef>
          </c:tx>
          <c:dPt>
            <c:idx val="0"/>
            <c:spPr>
              <a:solidFill>
                <a:srgbClr val="3EA6FF"/>
              </a:solidFill>
            </c:spPr>
          </c:dPt>
          <c:dPt>
            <c:idx val="1"/>
            <c:spPr>
              <a:solidFill>
                <a:srgbClr val="5BE0C0"/>
              </a:solidFill>
            </c:spPr>
          </c:dPt>
          <c:dPt>
            <c:idx val="2"/>
            <c:spPr>
              <a:solidFill>
                <a:srgbClr val="FFB454"/>
              </a:solidFill>
            </c:spPr>
          </c:dPt>
          <c:dPt>
            <c:idx val="3"/>
            <c:spPr>
              <a:solidFill>
                <a:srgbClr val="9A7BFF"/>
              </a:solidFill>
            </c:spPr>
          </c:dPt>
          <c:cat>
            <c:strRef>
              <c:f>Sheet1!$A$2:$A$5</c:f>
              <c:strCache>
                <c:ptCount val="4"/>
                <c:pt idx="0">
                  <c:v>视频</c:v>
                </c:pt>
                <c:pt idx="1">
                  <c:v>音频</c:v>
                </c:pt>
                <c:pt idx="2">
                  <c:v>图片</c:v>
                </c:pt>
                <c:pt idx="3">
                  <c:v>抽帧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10</c:v>
                </c:pt>
                <c:pt idx="2">
                  <c:v>7</c:v>
                </c:pt>
                <c:pt idx="3">
                  <c:v>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1371600"/>
            <a:ext cx="3108960" cy="3108960"/>
          </a:xfrm>
          <a:prstGeom prst="ellipse">
            <a:avLst/>
          </a:prstGeom>
          <a:solidFill>
            <a:srgbClr val="1A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1828800"/>
            <a:ext cx="2194560" cy="2194560"/>
          </a:xfrm>
          <a:prstGeom prst="ellipse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26880" y="2286000"/>
            <a:ext cx="1280160" cy="1280160"/>
          </a:xfrm>
          <a:prstGeom prst="ellipse">
            <a:avLst/>
          </a:prstGeom>
          <a:solidFill>
            <a:srgbClr val="5BE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5BE0C0"/>
                </a:solidFill>
                <a:latin typeface="Microsoft YaHei"/>
              </a:rPr>
              <a:t>万能格式转换 · 完全离线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78638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400" b="1">
                <a:solidFill>
                  <a:srgbClr val="FFFFFF"/>
                </a:solidFill>
                <a:latin typeface="Microsoft YaHei"/>
              </a:rPr>
              <a:t>万能转码器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66160"/>
            <a:ext cx="7863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A9BCD8"/>
                </a:solidFill>
                <a:latin typeface="Microsoft YaHei"/>
              </a:rPr>
              <a:t>视频 · 音频 · 图片 · 文档 全格式互转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206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EAF2FF"/>
                </a:solidFill>
                <a:latin typeface="Microsoft YaHei"/>
              </a:rPr>
              <a:t>作者：徐某   |   2026 年 10 月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一页看懂：四个数字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规模、覆盖面与实测结论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2514600" cy="228600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2514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4600" b="1">
                <a:solidFill>
                  <a:srgbClr val="3EA6FF"/>
                </a:solidFill>
                <a:latin typeface="Microsoft YaHe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788920"/>
            <a:ext cx="2194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类媒体互转
视频/音频/图片/文档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600200"/>
            <a:ext cx="2514600" cy="228600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828800"/>
            <a:ext cx="2514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4600" b="1">
                <a:solidFill>
                  <a:srgbClr val="5BE0C0"/>
                </a:solidFill>
                <a:latin typeface="Microsoft YaHei"/>
              </a:rPr>
              <a:t>35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2788920"/>
            <a:ext cx="2194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套内置预设
一键出结果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00200"/>
            <a:ext cx="2514600" cy="228600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828800"/>
            <a:ext cx="2514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4600" b="1">
                <a:solidFill>
                  <a:srgbClr val="3EA6FF"/>
                </a:solidFill>
                <a:latin typeface="Microsoft YaHei"/>
              </a:rPr>
              <a:t>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2788920"/>
            <a:ext cx="2194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项格式矩阵
全部通过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39" y="1600200"/>
            <a:ext cx="2514600" cy="228600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6839" y="1828800"/>
            <a:ext cx="2514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4600" b="1">
                <a:solidFill>
                  <a:srgbClr val="5BE0C0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71431" y="2788920"/>
            <a:ext cx="2194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种界面形态
桌面 + 网页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434840"/>
            <a:ext cx="108813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EAF2FF"/>
                </a:solidFill>
                <a:latin typeface="Microsoft YaHei"/>
              </a:rPr>
              <a:t>内核基于 FFmpeg：不重复造轮子，把“用户意图”精确编译为可执行参数。
两种界面共享同一内核与同一套预设，行为完全一致。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起点：要解决什么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四个必须回答的问题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2514600" cy="329184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5BE0C0"/>
                </a:solidFill>
                <a:latin typeface="Microsoft YaHei"/>
              </a:rPr>
              <a:t>格式太多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21488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扩展名 ≠ 封装名
选错就失败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645920"/>
            <a:ext cx="2514600" cy="329184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1874519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FFB454"/>
                </a:solidFill>
                <a:latin typeface="Microsoft YaHei"/>
              </a:rPr>
              <a:t>内核差异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468880"/>
            <a:ext cx="21488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不同构建支持
的编码器不同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45920"/>
            <a:ext cx="2514600" cy="329184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874519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5BE0C0"/>
                </a:solidFill>
                <a:latin typeface="Microsoft YaHei"/>
              </a:rPr>
              <a:t>报错难懂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468880"/>
            <a:ext cx="21488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“参数无效”
对用户毫无帮助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39" y="1645920"/>
            <a:ext cx="2514600" cy="329184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19" y="1874519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FFB454"/>
                </a:solidFill>
                <a:latin typeface="Microsoft YaHei"/>
              </a:rPr>
              <a:t>必须离线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19" y="2468880"/>
            <a:ext cx="21488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断网机器
也要能直接跑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21208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AF2FF"/>
                </a:solidFill>
                <a:latin typeface="Microsoft YaHei"/>
              </a:rPr>
              <a:t>目标：把复杂留给自己，把简单交给用户。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总体架构：四层分工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自上而下，职责单一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10698480" cy="96012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1856232"/>
            <a:ext cx="457200" cy="457200"/>
          </a:xfrm>
          <a:prstGeom prst="ellipse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0200" y="1746504"/>
            <a:ext cx="2377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界面层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746504"/>
            <a:ext cx="6949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A9BCD8"/>
                </a:solidFill>
                <a:latin typeface="Microsoft YaHei"/>
              </a:rPr>
              <a:t>PyQt 窗口 / Vue 页面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70632"/>
            <a:ext cx="10698480" cy="96012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3026664"/>
            <a:ext cx="457200" cy="457200"/>
          </a:xfrm>
          <a:prstGeom prst="ellipse">
            <a:avLst/>
          </a:prstGeom>
          <a:solidFill>
            <a:srgbClr val="5BE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00200" y="2916936"/>
            <a:ext cx="2377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接口层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916936"/>
            <a:ext cx="6949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A9BCD8"/>
                </a:solidFill>
                <a:latin typeface="Microsoft YaHei"/>
              </a:rPr>
              <a:t>REST + WebSocket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41064"/>
            <a:ext cx="10698480" cy="96012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" y="4197096"/>
            <a:ext cx="457200" cy="457200"/>
          </a:xfrm>
          <a:prstGeom prst="ellipse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00200" y="4087368"/>
            <a:ext cx="2377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内核逻辑层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4087368"/>
            <a:ext cx="6949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A9BCD8"/>
                </a:solidFill>
                <a:latin typeface="Microsoft YaHei"/>
              </a:rPr>
              <a:t>探测·构建·执行·队列·错误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111496"/>
            <a:ext cx="10698480" cy="96012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5367528"/>
            <a:ext cx="457200" cy="457200"/>
          </a:xfrm>
          <a:prstGeom prst="ellipse">
            <a:avLst/>
          </a:prstGeom>
          <a:solidFill>
            <a:srgbClr val="9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00200" y="5257800"/>
            <a:ext cx="2377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内核层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5257800"/>
            <a:ext cx="6949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A9BCD8"/>
                </a:solidFill>
                <a:latin typeface="Microsoft YaHei"/>
              </a:rPr>
              <a:t>FFmpeg / FFprobe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技术选型：为什么是它们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每一项都有明确的理由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3429000" cy="155448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810512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3EA6FF"/>
                </a:solidFill>
                <a:latin typeface="Microsoft YaHei"/>
              </a:rPr>
              <a:t>FFmpeg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331720"/>
            <a:ext cx="3017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A9BCD8"/>
                </a:solidFill>
                <a:latin typeface="Microsoft YaHei"/>
              </a:rPr>
              <a:t>覆盖面最广
单一可执行文件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429000" cy="155448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810512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5BE0C0"/>
                </a:solidFill>
                <a:latin typeface="Microsoft YaHei"/>
              </a:rPr>
              <a:t>Python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331720"/>
            <a:ext cx="3017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A9BCD8"/>
                </a:solidFill>
                <a:latin typeface="Microsoft YaHei"/>
              </a:rPr>
              <a:t>标准库即可胜任
无额外依赖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429000" cy="155448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1810512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FFB454"/>
                </a:solidFill>
                <a:latin typeface="Microsoft YaHei"/>
              </a:rPr>
              <a:t>PyQt6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2331720"/>
            <a:ext cx="3017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A9BCD8"/>
                </a:solidFill>
                <a:latin typeface="Microsoft YaHei"/>
              </a:rPr>
              <a:t>原生窗口
拖拽与表格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74720"/>
            <a:ext cx="3429000" cy="155448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3639312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3EA6FF"/>
                </a:solidFill>
                <a:latin typeface="Microsoft YaHei"/>
              </a:rPr>
              <a:t>FastAPI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4160520"/>
            <a:ext cx="3017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A9BCD8"/>
                </a:solidFill>
                <a:latin typeface="Microsoft YaHei"/>
              </a:rPr>
              <a:t>REST + WebSocket
异步高效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3474720"/>
            <a:ext cx="3429000" cy="155448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4568" y="3639312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5BE0C0"/>
                </a:solidFill>
                <a:latin typeface="Microsoft YaHei"/>
              </a:rPr>
              <a:t>Vue 3 + JSX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4160520"/>
            <a:ext cx="3017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A9BCD8"/>
                </a:solidFill>
                <a:latin typeface="Microsoft YaHei"/>
              </a:rPr>
              <a:t>组件化界面
构建为静态资源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3474720"/>
            <a:ext cx="3429000" cy="155448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3639312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FFB454"/>
                </a:solidFill>
                <a:latin typeface="Microsoft YaHei"/>
              </a:rPr>
              <a:t>PyInstaller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4160520"/>
            <a:ext cx="3017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A9BCD8"/>
                </a:solidFill>
                <a:latin typeface="Microsoft YaHei"/>
              </a:rPr>
              <a:t>脱离 Python
绿色分发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第一步：找到并验证内核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只看文件存在是不够的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60350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>
                <a:solidFill>
                  <a:srgbClr val="EAF2FF"/>
                </a:solidFill>
                <a:latin typeface="Microsoft YaHei"/>
              </a:rPr>
              <a:t>• ① 用户自定义路径（目录或文件）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>
                <a:solidFill>
                  <a:srgbClr val="EAF2FF"/>
                </a:solidFill>
                <a:latin typeface="Microsoft YaHei"/>
              </a:rPr>
              <a:t>• ② 随程序分发的副本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>
                <a:solidFill>
                  <a:srgbClr val="EAF2FF"/>
                </a:solidFill>
                <a:latin typeface="Microsoft YaHei"/>
              </a:rPr>
              <a:t>• ③ 可执行文件同级目录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>
                <a:solidFill>
                  <a:srgbClr val="EAF2FF"/>
                </a:solidFill>
                <a:latin typeface="Microsoft YaHei"/>
              </a:rPr>
              <a:t>• ④ 系统 PATH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1737360"/>
            <a:ext cx="4389120" cy="292608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1920240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5BE0C0"/>
                </a:solidFill>
                <a:latin typeface="Microsoft YaHei"/>
              </a:rPr>
              <a:t>候选逐个真实校验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468880"/>
            <a:ext cx="3840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A9BCD8"/>
                </a:solidFill>
                <a:latin typeface="Microsoft YaHei"/>
              </a:rPr>
              <a:t>• 执行版本命令，检查返回码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A9BCD8"/>
                </a:solidFill>
                <a:latin typeface="Microsoft YaHei"/>
              </a:rPr>
              <a:t>• 检查输出含版本横幅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A9BCD8"/>
                </a:solidFill>
                <a:latin typeface="Microsoft YaHei"/>
              </a:rPr>
              <a:t>• 任一失败即尝试下一个候选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A9BCD8"/>
                </a:solidFill>
                <a:latin typeface="Microsoft YaHei"/>
              </a:rPr>
              <a:t>• 全部失败给出可读提示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93776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EAF2FF"/>
                </a:solidFill>
                <a:latin typeface="Microsoft YaHei"/>
              </a:rPr>
              <a:t>好处：不会把“同名但无关的程序”误当作内核，避免莫名其妙的失败。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第二步：问清内核会做什么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三条查询，缓存复用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3429000" cy="192024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92024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3EA6FF"/>
                </a:solidFill>
                <a:latin typeface="Microsoft YaHei"/>
              </a:rPr>
              <a:t>编码器清单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51460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A9BCD8"/>
                </a:solidFill>
                <a:latin typeface="Microsoft YaHei"/>
              </a:rPr>
              <a:t>哪些音视频编码可用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91640"/>
            <a:ext cx="3429000" cy="192024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92024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3EA6FF"/>
                </a:solidFill>
                <a:latin typeface="Microsoft YaHei"/>
              </a:rPr>
              <a:t>封装格式清单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51460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A9BCD8"/>
                </a:solidFill>
                <a:latin typeface="Microsoft YaHei"/>
              </a:rPr>
              <a:t>哪些容器可以写出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91640"/>
            <a:ext cx="3429000" cy="192024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192024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3EA6FF"/>
                </a:solidFill>
                <a:latin typeface="Microsoft YaHei"/>
              </a:rPr>
              <a:t>硬件加速后端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251460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A9BCD8"/>
                </a:solidFill>
                <a:latin typeface="Microsoft YaHei"/>
              </a:rPr>
              <a:t>哪些硬件加速可用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931920"/>
            <a:ext cx="108813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EAF2FF"/>
                </a:solidFill>
                <a:latin typeface="Microsoft YaHei"/>
              </a:rPr>
              <a:t>把结果缓存下来，启动时只探测一次，避免每次转换都重复查询。
界面按探测结果过滤格式选项：内核不支持的格式不会出现在下拉框里。
若探测失败，则采取宽松方式，不武断禁用全部格式。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第三步：读懂源文件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以结构化方式读取容器与流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57607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容器：格式名、全称、时长、总码率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视频流：编码、分辨率、帧率、像素格式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音频流：编码、采样率、声道、布局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字幕流：语言与标题标记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1691640"/>
            <a:ext cx="4663440" cy="31089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874519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5BE0C0"/>
                </a:solidFill>
                <a:latin typeface="Microsoft YaHei"/>
              </a:rPr>
              <a:t>容错三原则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2377440"/>
            <a:ext cx="4206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A9BCD8"/>
                </a:solidFill>
                <a:latin typeface="Microsoft YaHei"/>
              </a:rPr>
              <a:t>• 缺失字段逐字段兜底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A9BCD8"/>
                </a:solidFill>
                <a:latin typeface="Microsoft YaHei"/>
              </a:rPr>
              <a:t>• 损坏文件不抛异常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A9BCD8"/>
                </a:solidFill>
                <a:latin typeface="Microsoft YaHei"/>
              </a:rPr>
              <a:t>• 超时即返回低置信度结果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第四步：把意图编译为参数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产出参数列表，而不是命令字符串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3429000" cy="228600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874519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3EA6FF"/>
                </a:solidFill>
                <a:latin typeface="Microsoft YaHei"/>
              </a:rPr>
              <a:t>① 容器换算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468880"/>
            <a:ext cx="3017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A9BCD8"/>
                </a:solidFill>
                <a:latin typeface="Microsoft YaHei"/>
              </a:rPr>
              <a:t>mkv → matroska
ts → mpegts
mpg → mpeg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91640"/>
            <a:ext cx="3429000" cy="228600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874519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3EA6FF"/>
                </a:solidFill>
                <a:latin typeface="Microsoft YaHei"/>
              </a:rPr>
              <a:t>② 编码器推断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468880"/>
            <a:ext cx="3017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A9BCD8"/>
                </a:solidFill>
                <a:latin typeface="Microsoft YaHei"/>
              </a:rPr>
              <a:t>按封装名查默认值
不合规则降级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91640"/>
            <a:ext cx="3429000" cy="228600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1874519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FB454"/>
                </a:solidFill>
                <a:latin typeface="Microsoft YaHei"/>
              </a:rPr>
              <a:t>③ 滤镜链拼接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2468880"/>
            <a:ext cx="3017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A9BCD8"/>
                </a:solidFill>
                <a:latin typeface="Microsoft YaHei"/>
              </a:rPr>
              <a:t>顺序固定
不可随意调换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06240"/>
            <a:ext cx="10881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EAF2FF"/>
                </a:solidFill>
                <a:latin typeface="Microsoft YaHei"/>
              </a:rPr>
              <a:t>用参数列表而非字符串：没有引号与空格差异，也从根本上杜绝命令注入。
三层处理让“用户随便选”也能得到一条内核能接受的命令。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关键细节：扩展名 ≠ 封装名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每一个换算都经内核清单核对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10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645920"/>
          <a:ext cx="640080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223760" y="1645920"/>
            <a:ext cx="420624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52360" y="1828800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5BE0C0"/>
                </a:solidFill>
                <a:latin typeface="Microsoft YaHei"/>
              </a:rPr>
              <a:t>换算对照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2331720"/>
            <a:ext cx="3749039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A9BCD8"/>
                </a:solidFill>
                <a:latin typeface="Microsoft YaHei"/>
              </a:rPr>
              <a:t>• mkv → matroska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A9BCD8"/>
                </a:solidFill>
                <a:latin typeface="Microsoft YaHei"/>
              </a:rPr>
              <a:t>• ts → mpegts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A9BCD8"/>
                </a:solidFill>
                <a:latin typeface="Microsoft YaHei"/>
              </a:rPr>
              <a:t>• mpg → mpeg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A9BCD8"/>
                </a:solidFill>
                <a:latin typeface="Microsoft YaHei"/>
              </a:rPr>
              <a:t>• wmv → asf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A9BCD8"/>
                </a:solidFill>
                <a:latin typeface="Microsoft YaHei"/>
              </a:rPr>
              <a:t>• m4a → ipod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A9BCD8"/>
                </a:solidFill>
                <a:latin typeface="Microsoft YaHei"/>
              </a:rPr>
              <a:t>• jpg/png → image2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滤镜链：顺序决定成败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固定顺序，避免隐蔽错位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03120"/>
            <a:ext cx="1243584" cy="91440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286000"/>
            <a:ext cx="124358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3EA6FF"/>
                </a:solidFill>
                <a:latin typeface="Microsoft YaHei"/>
              </a:rPr>
              <a:t>裁剪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828800" y="2432304"/>
            <a:ext cx="146304" cy="237744"/>
          </a:xfrm>
          <a:prstGeom prst="rightArrow">
            <a:avLst/>
          </a:prstGeom>
          <a:solidFill>
            <a:srgbClr val="A9B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965960" y="2103120"/>
            <a:ext cx="1243584" cy="91440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65960" y="2286000"/>
            <a:ext cx="124358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5BE0C0"/>
                </a:solidFill>
                <a:latin typeface="Microsoft YaHei"/>
              </a:rPr>
              <a:t>缩放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227832" y="2432304"/>
            <a:ext cx="146304" cy="237744"/>
          </a:xfrm>
          <a:prstGeom prst="rightArrow">
            <a:avLst/>
          </a:prstGeom>
          <a:solidFill>
            <a:srgbClr val="A9B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64992" y="2103120"/>
            <a:ext cx="1243584" cy="91440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64992" y="2286000"/>
            <a:ext cx="124358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3EA6FF"/>
                </a:solidFill>
                <a:latin typeface="Microsoft YaHei"/>
              </a:rPr>
              <a:t>旋转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626864" y="2432304"/>
            <a:ext cx="146304" cy="237744"/>
          </a:xfrm>
          <a:prstGeom prst="rightArrow">
            <a:avLst/>
          </a:prstGeom>
          <a:solidFill>
            <a:srgbClr val="A9B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764024" y="2103120"/>
            <a:ext cx="1243584" cy="91440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64024" y="2286000"/>
            <a:ext cx="124358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5BE0C0"/>
                </a:solidFill>
                <a:latin typeface="Microsoft YaHei"/>
              </a:rPr>
              <a:t>镜像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025896" y="2432304"/>
            <a:ext cx="146304" cy="237744"/>
          </a:xfrm>
          <a:prstGeom prst="rightArrow">
            <a:avLst/>
          </a:prstGeom>
          <a:solidFill>
            <a:srgbClr val="A9B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63056" y="2103120"/>
            <a:ext cx="1243584" cy="91440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63056" y="2286000"/>
            <a:ext cx="124358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3EA6FF"/>
                </a:solidFill>
                <a:latin typeface="Microsoft YaHei"/>
              </a:rPr>
              <a:t>帧率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424928" y="2432304"/>
            <a:ext cx="146304" cy="237744"/>
          </a:xfrm>
          <a:prstGeom prst="rightArrow">
            <a:avLst/>
          </a:prstGeom>
          <a:solidFill>
            <a:srgbClr val="A9B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562088" y="2103120"/>
            <a:ext cx="1243584" cy="91440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62088" y="2286000"/>
            <a:ext cx="124358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5BE0C0"/>
                </a:solidFill>
                <a:latin typeface="Microsoft YaHei"/>
              </a:rPr>
              <a:t>水印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823960" y="2432304"/>
            <a:ext cx="146304" cy="237744"/>
          </a:xfrm>
          <a:prstGeom prst="rightArrow">
            <a:avLst/>
          </a:prstGeom>
          <a:solidFill>
            <a:srgbClr val="A9B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961120" y="2103120"/>
            <a:ext cx="1243584" cy="91440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0" y="2286000"/>
            <a:ext cx="124358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3EA6FF"/>
                </a:solidFill>
                <a:latin typeface="Microsoft YaHei"/>
              </a:rPr>
              <a:t>字幕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0222992" y="2432304"/>
            <a:ext cx="146304" cy="237744"/>
          </a:xfrm>
          <a:prstGeom prst="rightArrow">
            <a:avLst/>
          </a:prstGeom>
          <a:solidFill>
            <a:srgbClr val="A9B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360152" y="2103120"/>
            <a:ext cx="1243584" cy="91440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60152" y="2286000"/>
            <a:ext cx="124358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5BE0C0"/>
                </a:solidFill>
                <a:latin typeface="Microsoft YaHei"/>
              </a:rPr>
              <a:t>变速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3429000"/>
            <a:ext cx="1088136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EAF2FF"/>
                </a:solidFill>
                <a:latin typeface="Microsoft YaHei"/>
              </a:rPr>
              <a:t>调换顺序会出现的问题：
• 先旋转再裁剪 → 坐标错乱，裁不到想要的区域
• 先缩放再加水印 → 水印随画面变形
• 字幕最后烧录 → 保证叠加在最终画面上
所有尺寸向下取偶数：主流编码器要求宽高可被 2 整除。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质量档位映射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用户选档位，内核收参数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2514600" cy="246888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3EA6FF"/>
                </a:solidFill>
                <a:latin typeface="Microsoft YaHei"/>
              </a:rPr>
              <a:t>无损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2514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CRF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2514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体积最大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737360"/>
            <a:ext cx="2514600" cy="246888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965960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5BE0C0"/>
                </a:solidFill>
                <a:latin typeface="Microsoft YaHei"/>
              </a:rPr>
              <a:t>高质量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606040"/>
            <a:ext cx="2514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CRF 20 / 192k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383280"/>
            <a:ext cx="2514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清晰优先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737360"/>
            <a:ext cx="2514600" cy="246888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965960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FFB454"/>
                </a:solidFill>
                <a:latin typeface="Microsoft YaHei"/>
              </a:rPr>
              <a:t>标准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606040"/>
            <a:ext cx="2514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CRF 23 / 128k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383280"/>
            <a:ext cx="2514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均衡推荐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39" y="1737360"/>
            <a:ext cx="2514600" cy="246888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39" y="1965960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9A7BFF"/>
                </a:solidFill>
                <a:latin typeface="Microsoft YaHei"/>
              </a:rPr>
              <a:t>小体积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39" y="2606040"/>
            <a:ext cx="2514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CRF 28 / 96k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39" y="3383280"/>
            <a:ext cx="2514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分享优先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572000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EAF2FF"/>
                </a:solidFill>
                <a:latin typeface="Microsoft YaHei"/>
              </a:rPr>
              <a:t>用户显式填写的码率优先；预设自带参数优先级最高，保证一键结果稳定可预期。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执行与进度：把黑盒变透明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结构化进度流，而非解析人类文本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5669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读取键值对形式的进度块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已编码时长 ÷ 源总时长 = 百分比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相邻采样差估算瞬时速度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由速度推算剩余时间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取消：先温和终止，超时再强制结束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691640"/>
            <a:ext cx="4754880" cy="329184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03720" y="1874519"/>
            <a:ext cx="4297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5BE0C0"/>
                </a:solidFill>
                <a:latin typeface="Microsoft YaHei"/>
              </a:rPr>
              <a:t>为什么不用人类可读文本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2377440"/>
            <a:ext cx="4297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A9BCD8"/>
                </a:solidFill>
                <a:latin typeface="Microsoft YaHei"/>
              </a:rPr>
              <a:t>• 人类文本受语言环境影响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A9BCD8"/>
                </a:solidFill>
                <a:latin typeface="Microsoft YaHei"/>
              </a:rPr>
              <a:t>• 字段顺序可能变化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A9BCD8"/>
                </a:solidFill>
                <a:latin typeface="Microsoft YaHei"/>
              </a:rPr>
              <a:t>• 键值对形式稳定且精确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A9BCD8"/>
                </a:solidFill>
                <a:latin typeface="Microsoft YaHei"/>
              </a:rPr>
              <a:t>• 瞬时速度比自报速度更贴近真实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任务队列：单向状态机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等待 → 运行 → 终态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3429000" cy="114300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2084832"/>
            <a:ext cx="457200" cy="457200"/>
          </a:xfrm>
          <a:prstGeom prst="ellipse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2011680"/>
            <a:ext cx="2286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等待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737360"/>
            <a:ext cx="3429000" cy="114300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17720" y="2084832"/>
            <a:ext cx="457200" cy="457200"/>
          </a:xfrm>
          <a:prstGeom prst="ellipse">
            <a:avLst/>
          </a:prstGeom>
          <a:solidFill>
            <a:srgbClr val="5BE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57800" y="2011680"/>
            <a:ext cx="2286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运行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737360"/>
            <a:ext cx="3429000" cy="114300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21040" y="2084832"/>
            <a:ext cx="457200" cy="457200"/>
          </a:xfrm>
          <a:prstGeom prst="ellipse">
            <a:avLst/>
          </a:prstGeom>
          <a:solidFill>
            <a:srgbClr val="5BE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2011680"/>
            <a:ext cx="2286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完成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08960"/>
            <a:ext cx="3429000" cy="114300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3456432"/>
            <a:ext cx="457200" cy="457200"/>
          </a:xfrm>
          <a:prstGeom prst="ellipse">
            <a:avLst/>
          </a:prstGeom>
          <a:solidFill>
            <a:srgbClr val="FF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4480" y="3383280"/>
            <a:ext cx="2286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失败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3108960"/>
            <a:ext cx="3429000" cy="114300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617720" y="3456432"/>
            <a:ext cx="457200" cy="457200"/>
          </a:xfrm>
          <a:prstGeom prst="ellipse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57800" y="3383280"/>
            <a:ext cx="2286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取消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3108960"/>
            <a:ext cx="3429000" cy="114300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321040" y="3456432"/>
            <a:ext cx="457200" cy="457200"/>
          </a:xfrm>
          <a:prstGeom prst="ellipse">
            <a:avLst/>
          </a:prstGeom>
          <a:solidFill>
            <a:srgbClr val="9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0" y="3383280"/>
            <a:ext cx="2286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跳过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663440"/>
            <a:ext cx="10881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EAF2FF"/>
                </a:solidFill>
                <a:latin typeface="Microsoft YaHei"/>
              </a:rPr>
              <a:t>队列不依赖任何界面框架，只通过回调上报 —— 因此桌面端与网页端复用同一套调度逻辑。
支持并发上限、暂停（只停“取新任务”）、继续、停止与自动去重。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错误分类：把报错翻译成人话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十几类失败模式，各有对策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0607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源文件损坏 / 格式不符：建议换文件或修复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文件缺失 / 无权限：检查路径与占用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参数或编码器不支持：更换组合或内核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编码器初始化失败：改用通用编码器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磁盘空间不足：清理或改目录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奇数分辨率：自动补边到偶数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无有效流：更换目标格式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缺少解码器：更换内核或先转通用格式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硬件加速失败：自动回退软件编码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7784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A9BCD8"/>
                </a:solidFill>
                <a:latin typeface="Microsoft YaHei"/>
              </a:rPr>
              <a:t>分类是“尽力而为”的启发式匹配，匹配不到时归为未知，但绝不因此抛异常。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自动补救：两条确定的路径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只对“原因明确”的错误动手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5349240" cy="301752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EA6FF"/>
                </a:solidFill>
                <a:latin typeface="Microsoft YaHei"/>
              </a:rPr>
              <a:t>奇数分辨率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47548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A9BCD8"/>
                </a:solidFill>
                <a:latin typeface="Microsoft YaHei"/>
              </a:rPr>
              <a:t>原因：宽或高不能被 2 整除
动作：补边到偶数后重试一次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737360"/>
            <a:ext cx="5349240" cy="301752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96596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5BE0C0"/>
                </a:solidFill>
                <a:latin typeface="Microsoft YaHei"/>
              </a:rPr>
              <a:t>硬件编码失败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697480"/>
            <a:ext cx="47548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A9BCD8"/>
                </a:solidFill>
                <a:latin typeface="Microsoft YaHei"/>
              </a:rPr>
              <a:t>原因：驱动 / 显存 / 分辨率限制
动作：整套换软件编码器重建命令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2920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EAF2FF"/>
                </a:solidFill>
                <a:latin typeface="Microsoft YaHei"/>
              </a:rPr>
              <a:t>关键：硬件补救不是“追加参数”，而是整套替换编码器后重建命令 —— 这与最初的做法不同，也是实测后修正的结果。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预设体系：35 套开箱即用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视频 14 · 音频 11 · 图片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17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645920"/>
          <a:ext cx="512064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126480" y="1645920"/>
            <a:ext cx="53035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5BE0C0"/>
                </a:solidFill>
                <a:latin typeface="Microsoft YaHei"/>
              </a:rPr>
              <a:t>预设覆盖的场景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377440"/>
            <a:ext cx="4846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A9BCD8"/>
                </a:solidFill>
                <a:latin typeface="Microsoft YaHei"/>
              </a:rPr>
              <a:t>• 手机通用 MP4 / H.264 三档质量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A9BCD8"/>
                </a:solidFill>
                <a:latin typeface="Microsoft YaHei"/>
              </a:rPr>
              <a:t>• H.265 高压缩、MKV 多轨收藏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A9BCD8"/>
                </a:solidFill>
                <a:latin typeface="Microsoft YaHei"/>
              </a:rPr>
              <a:t>• WebM 网页、FLV 推流、TS 传输流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A9BCD8"/>
                </a:solidFill>
                <a:latin typeface="Microsoft YaHei"/>
              </a:rPr>
              <a:t>• 剪辑中间格式 ProRes / DNxHD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A9BCD8"/>
                </a:solidFill>
                <a:latin typeface="Microsoft YaHei"/>
              </a:rPr>
              <a:t>• 无损 FLAC、未压缩 WAV、杜比 AC3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A9BCD8"/>
                </a:solidFill>
                <a:latin typeface="Microsoft YaHei"/>
              </a:rPr>
              <a:t>• 网页动图 GIF、现代图片 AVIF / WebP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硬件加速：能快就快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默认软件编码，硬件作为可选项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2514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3EA6FF"/>
                </a:solidFill>
                <a:latin typeface="Microsoft YaHei"/>
              </a:rPr>
              <a:t>NVIDIA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2514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5BE0C0"/>
                </a:solidFill>
                <a:latin typeface="Microsoft YaHei"/>
              </a:rPr>
              <a:t>NVENC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73736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965960"/>
            <a:ext cx="2514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3EA6FF"/>
                </a:solidFill>
                <a:latin typeface="Microsoft YaHei"/>
              </a:rPr>
              <a:t>Intel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606040"/>
            <a:ext cx="2514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5BE0C0"/>
                </a:solidFill>
                <a:latin typeface="Microsoft YaHei"/>
              </a:rPr>
              <a:t>QSV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73736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965960"/>
            <a:ext cx="2514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3EA6FF"/>
                </a:solidFill>
                <a:latin typeface="Microsoft YaHei"/>
              </a:rPr>
              <a:t>AMD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606040"/>
            <a:ext cx="2514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5BE0C0"/>
                </a:solidFill>
                <a:latin typeface="Microsoft YaHei"/>
              </a:rPr>
              <a:t>AMF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39" y="173736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6839" y="1965960"/>
            <a:ext cx="2514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3EA6FF"/>
                </a:solidFill>
                <a:latin typeface="Microsoft YaHei"/>
              </a:rPr>
              <a:t>Apple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39" y="2606040"/>
            <a:ext cx="2514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5BE0C0"/>
                </a:solidFill>
                <a:latin typeface="Microsoft YaHei"/>
              </a:rPr>
              <a:t>VideoToolbox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40480"/>
            <a:ext cx="108813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EAF2FF"/>
                </a:solidFill>
                <a:latin typeface="Microsoft YaHei"/>
              </a:rPr>
              <a:t>“存在不等于可用”：硬件编码器可能因驱动、显存或分辨率限制而失败。
因此默认走软件编码，保证任何机器都能成功；需要提速时再开启硬件路径。
自动方式按“通用性优先”的顺序挑选硬件编码器。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文档转换：不依赖办公软件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三条路径，全部离线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3429000" cy="256032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96596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3EA6FF"/>
                </a:solidFill>
                <a:latin typeface="Microsoft YaHei"/>
              </a:rPr>
              <a:t>多图 → PDF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651760"/>
            <a:ext cx="30175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A9BCD8"/>
                </a:solidFill>
                <a:latin typeface="Microsoft YaHei"/>
              </a:rPr>
              <a:t>透明图合成白底
一次写出多页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737360"/>
            <a:ext cx="3429000" cy="256032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96596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PDF → 图片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651760"/>
            <a:ext cx="30175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A9BCD8"/>
                </a:solidFill>
                <a:latin typeface="Microsoft YaHei"/>
              </a:rPr>
              <a:t>按页渲染
支持页码与分辨率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737360"/>
            <a:ext cx="3429000" cy="256032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196596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FB454"/>
                </a:solidFill>
                <a:latin typeface="Microsoft YaHei"/>
              </a:rPr>
              <a:t>文本 → PDF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2651760"/>
            <a:ext cx="30175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A9BCD8"/>
                </a:solidFill>
                <a:latin typeface="Microsoft YaHei"/>
              </a:rPr>
              <a:t>按页宽折行
手工构造合法 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572000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EAF2FF"/>
                </a:solidFill>
                <a:latin typeface="Microsoft YaHei"/>
              </a:rPr>
              <a:t>单张图片或单页失败会被跳过并记录，不影响其余页；全程不依赖任何外部办公软件。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桌面端：九个标签页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拖拽即添加，表格看进度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548640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120640" cy="502920"/>
          </a:xfrm>
          <a:prstGeom prst="roundRect">
            <a:avLst/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83664"/>
            <a:ext cx="914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5BE0C0"/>
                </a:solidFill>
                <a:latin typeface="Microsoft YaHei"/>
              </a:rPr>
              <a:t>视频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883664"/>
            <a:ext cx="914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5BE0C0"/>
                </a:solidFill>
                <a:latin typeface="Microsoft YaHei"/>
              </a:rPr>
              <a:t>音频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883664"/>
            <a:ext cx="914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5BE0C0"/>
                </a:solidFill>
                <a:latin typeface="Microsoft YaHei"/>
              </a:rPr>
              <a:t>图片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1883664"/>
            <a:ext cx="914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5BE0C0"/>
                </a:solidFill>
                <a:latin typeface="Microsoft YaHei"/>
              </a:rPr>
              <a:t>文档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883664"/>
            <a:ext cx="914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5BE0C0"/>
                </a:solidFill>
                <a:latin typeface="Microsoft YaHei"/>
              </a:rPr>
              <a:t>设备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2514600"/>
            <a:ext cx="5029200" cy="822960"/>
          </a:xfrm>
          <a:prstGeom prst="roundRect">
            <a:avLst>
              <a:gd name="adj" fmla="val 15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265176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高级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670048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3520440"/>
            <a:ext cx="5029200" cy="822960"/>
          </a:xfrm>
          <a:prstGeom prst="roundRect">
            <a:avLst>
              <a:gd name="adj" fmla="val 15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65760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队列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3675888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526280"/>
            <a:ext cx="5029200" cy="822960"/>
          </a:xfrm>
          <a:prstGeom prst="roundRect">
            <a:avLst>
              <a:gd name="adj" fmla="val 15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66344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设置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4681728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1645920"/>
            <a:ext cx="493776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1828800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5BE0C0"/>
                </a:solidFill>
                <a:latin typeface="Microsoft YaHei"/>
              </a:rPr>
              <a:t>交互要点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2377440"/>
            <a:ext cx="4480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A9BCD8"/>
                </a:solidFill>
                <a:latin typeface="Microsoft YaHei"/>
              </a:rPr>
              <a:t>• 拖拽文件 / 递归添加文件夹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A9BCD8"/>
                </a:solidFill>
                <a:latin typeface="Microsoft YaHei"/>
              </a:rPr>
              <a:t>• 自动去重，重复项直接跳过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A9BCD8"/>
                </a:solidFill>
                <a:latin typeface="Microsoft YaHei"/>
              </a:rPr>
              <a:t>• 表格实时显示进度、速度、剩余时间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A9BCD8"/>
                </a:solidFill>
                <a:latin typeface="Microsoft YaHei"/>
              </a:rPr>
              <a:t>• 双击查看失败详情与建议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A9BCD8"/>
                </a:solidFill>
                <a:latin typeface="Microsoft YaHei"/>
              </a:rPr>
              <a:t>• 预览 / 复制将要执行的命令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网页端：同一内核，另一种形态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20 个接口 + 1 条进度通道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548640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3EA6FF"/>
                </a:solidFill>
                <a:latin typeface="Microsoft YaHei"/>
              </a:rPr>
              <a:t>后端接口分组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77440"/>
            <a:ext cx="5029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EAF2FF"/>
                </a:solidFill>
                <a:latin typeface="Microsoft YaHei"/>
              </a:rPr>
              <a:t>• 系统与能力：system / presets / formats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EAF2FF"/>
                </a:solidFill>
                <a:latin typeface="Microsoft YaHei"/>
              </a:rPr>
              <a:t>• 文件与探测：browse / probe / open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EAF2FF"/>
                </a:solidFill>
                <a:latin typeface="Microsoft YaHei"/>
              </a:rPr>
              <a:t>• 设置：settings 读取与保存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EAF2FF"/>
                </a:solidFill>
                <a:latin typeface="Microsoft YaHei"/>
              </a:rPr>
              <a:t>• 任务：tasks 增删清空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EAF2FF"/>
                </a:solidFill>
                <a:latin typeface="Microsoft YaHei"/>
              </a:rPr>
              <a:t>• 队列：start / pause / resume / stop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EAF2FF"/>
                </a:solidFill>
                <a:latin typeface="Microsoft YaHei"/>
              </a:rPr>
              <a:t>• 扩展：snapshot 抽帧、doc 文档转换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645920"/>
            <a:ext cx="493776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1828800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5BE0C0"/>
                </a:solidFill>
                <a:latin typeface="Microsoft YaHei"/>
              </a:rPr>
              <a:t>前端 16 个组件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480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A9BCD8"/>
                </a:solidFill>
                <a:latin typeface="Microsoft YaHei"/>
              </a:rPr>
              <a:t>• 导航与外壳：NavTabs / Dock / ui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A9BCD8"/>
                </a:solidFill>
                <a:latin typeface="Microsoft YaHei"/>
              </a:rPr>
              <a:t>• 四类面板：视频 / 音频 / 图片 / 文档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A9BCD8"/>
                </a:solidFill>
                <a:latin typeface="Microsoft YaHei"/>
              </a:rPr>
              <a:t>• 文件与输出：FilePanel / FileBrowser / OutputSection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A9BCD8"/>
                </a:solidFill>
                <a:latin typeface="Microsoft YaHei"/>
              </a:rPr>
              <a:t>• 任务与设置：TaskTable / QueuePanel / SettingsPanel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A9BCD8"/>
                </a:solidFill>
                <a:latin typeface="Microsoft YaHei"/>
              </a:rPr>
              <a:t>• 预设与关于：PresetBar / AboutPanel / AdvancedPanel</a:t>
            </a: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验证：30 项矩阵全部通过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穷举而非抽查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22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645920"/>
          <a:ext cx="658368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406640" y="1645920"/>
            <a:ext cx="402336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0" y="182880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5BE0C0"/>
                </a:solidFill>
                <a:latin typeface="Microsoft YaHei"/>
              </a:rPr>
              <a:t>关键做法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2377440"/>
            <a:ext cx="3566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>
                <a:solidFill>
                  <a:srgbClr val="A9BCD8"/>
                </a:solidFill>
                <a:latin typeface="Microsoft YaHei"/>
              </a:rPr>
              <a:t>• 不看命令返回码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>
                <a:solidFill>
                  <a:srgbClr val="A9BCD8"/>
                </a:solidFill>
                <a:latin typeface="Microsoft YaHei"/>
              </a:rPr>
              <a:t>• 产物二次探测确认类型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>
                <a:solidFill>
                  <a:srgbClr val="A9BCD8"/>
                </a:solidFill>
                <a:latin typeface="Microsoft YaHei"/>
              </a:rPr>
              <a:t>• 排除“成功但产物是垃圾”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>
                <a:solidFill>
                  <a:srgbClr val="A9BCD8"/>
                </a:solidFill>
                <a:latin typeface="Microsoft YaHei"/>
              </a:rPr>
              <a:t>• 内核实测版本横幅校验</a:t>
            </a:r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过程中修复的九处真实缺陷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每一处都来自真实运行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3429000" cy="100584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8" y="1947672"/>
            <a:ext cx="475488" cy="475488"/>
          </a:xfrm>
          <a:prstGeom prst="ellipse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993392"/>
            <a:ext cx="4754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0B122A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874520"/>
            <a:ext cx="2468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封装名换算（mkv/ts/mpg）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91640"/>
            <a:ext cx="3429000" cy="100584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44568" y="1947672"/>
            <a:ext cx="475488" cy="475488"/>
          </a:xfrm>
          <a:prstGeom prst="ellipse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993392"/>
            <a:ext cx="4754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0B122A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1874520"/>
            <a:ext cx="2468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默认编码器表键名改用封装名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91640"/>
            <a:ext cx="3429000" cy="100584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47888" y="1947672"/>
            <a:ext cx="475488" cy="475488"/>
          </a:xfrm>
          <a:prstGeom prst="ellipse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993392"/>
            <a:ext cx="4754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0B122A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1874520"/>
            <a:ext cx="2468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图片目标独立映射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926080"/>
            <a:ext cx="3429000" cy="100584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1248" y="3182112"/>
            <a:ext cx="475488" cy="475488"/>
          </a:xfrm>
          <a:prstGeom prst="ellipse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3227832"/>
            <a:ext cx="4754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0B122A"/>
                </a:solidFill>
                <a:latin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108960"/>
            <a:ext cx="2468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下拉取值区分“空”与“未选”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2926080"/>
            <a:ext cx="3429000" cy="100584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44568" y="3182112"/>
            <a:ext cx="475488" cy="475488"/>
          </a:xfrm>
          <a:prstGeom prst="ellipse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44568" y="3227832"/>
            <a:ext cx="4754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0B122A"/>
                </a:solidFill>
                <a:latin typeface="Microsoft YaHe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6360" y="3108960"/>
            <a:ext cx="2468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硬件补救整套替换编码器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2926080"/>
            <a:ext cx="3429000" cy="100584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247888" y="3182112"/>
            <a:ext cx="475488" cy="475488"/>
          </a:xfrm>
          <a:prstGeom prst="ellipse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47888" y="3227832"/>
            <a:ext cx="4754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0B122A"/>
                </a:solidFill>
                <a:latin typeface="Microsoft YaHe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3108960"/>
            <a:ext cx="2468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去掉二进制管道的行缓冲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160520"/>
            <a:ext cx="3429000" cy="100584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41248" y="4416552"/>
            <a:ext cx="475488" cy="475488"/>
          </a:xfrm>
          <a:prstGeom prst="ellipse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4462272"/>
            <a:ext cx="4754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0B122A"/>
                </a:solidFill>
                <a:latin typeface="Microsoft YaHei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4343400"/>
            <a:ext cx="2468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执行前兜底创建输出目录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43400" y="4160520"/>
            <a:ext cx="3429000" cy="100584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44568" y="4416552"/>
            <a:ext cx="475488" cy="475488"/>
          </a:xfrm>
          <a:prstGeom prst="ellipse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44568" y="4462272"/>
            <a:ext cx="4754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0B122A"/>
                </a:solidFill>
                <a:latin typeface="Microsoft YaHei"/>
              </a:rPr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66360" y="4343400"/>
            <a:ext cx="2468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入口统一走主函数解析参数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6720" y="4160520"/>
            <a:ext cx="3429000" cy="100584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247888" y="4416552"/>
            <a:ext cx="475488" cy="475488"/>
          </a:xfrm>
          <a:prstGeom prst="ellipse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47888" y="4462272"/>
            <a:ext cx="4754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0B122A"/>
                </a:solidFill>
                <a:latin typeface="Microsoft YaHei"/>
              </a:rPr>
              <a:t>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4343400"/>
            <a:ext cx="2468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打包后补齐标准流</a:t>
            </a: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打包：一个目录，拷贝即用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六步构建，任一步失败即停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1691640" cy="137160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286000"/>
            <a:ext cx="1691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>
                <a:solidFill>
                  <a:srgbClr val="3EA6FF"/>
                </a:solidFill>
                <a:latin typeface="Microsoft YaHei"/>
              </a:rPr>
              <a:t>建虚拟环境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05456" y="1828800"/>
            <a:ext cx="1691640" cy="137160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05456" y="2286000"/>
            <a:ext cx="1691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>
                <a:solidFill>
                  <a:srgbClr val="5BE0C0"/>
                </a:solidFill>
                <a:latin typeface="Microsoft YaHei"/>
              </a:rPr>
              <a:t>安装依赖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3984" y="1828800"/>
            <a:ext cx="1691640" cy="137160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2286000"/>
            <a:ext cx="1691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>
                <a:solidFill>
                  <a:srgbClr val="3EA6FF"/>
                </a:solidFill>
                <a:latin typeface="Microsoft YaHei"/>
              </a:rPr>
              <a:t>生成图标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82512" y="1828800"/>
            <a:ext cx="1691640" cy="137160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2286000"/>
            <a:ext cx="1691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>
                <a:solidFill>
                  <a:srgbClr val="5BE0C0"/>
                </a:solidFill>
                <a:latin typeface="Microsoft YaHei"/>
              </a:rPr>
              <a:t>构建前端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828800"/>
            <a:ext cx="1691640" cy="137160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286000"/>
            <a:ext cx="1691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>
                <a:solidFill>
                  <a:srgbClr val="3EA6FF"/>
                </a:solidFill>
                <a:latin typeface="Microsoft YaHei"/>
              </a:rPr>
              <a:t>内核自检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59568" y="1828800"/>
            <a:ext cx="1691640" cy="137160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59568" y="2286000"/>
            <a:ext cx="1691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>
                <a:solidFill>
                  <a:srgbClr val="5BE0C0"/>
                </a:solidFill>
                <a:latin typeface="Microsoft YaHei"/>
              </a:rPr>
              <a:t>打包 exe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6616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EAF2FF"/>
                </a:solidFill>
                <a:latin typeface="Microsoft YaHei"/>
              </a:rPr>
              <a:t>产物采用 one-folder 绿色版：内核、图标与网页静态资源全部收进同一目录。
程序对运行环境无额外要求，无需安装 Python，也无需联网。
整个目录拷贝到离线 Windows 机器即可直接运行 —— 这就是“离线可用”的交付形态。</a:t>
            </a:r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结语：把万能落到实处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可验证 · 可复现 · 可交付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万能 = 4 类媒体 + 35 套预设 + 30 项矩阵全通过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5BE0C0"/>
                </a:solidFill>
                <a:latin typeface="Microsoft YaHei"/>
              </a:rPr>
              <a:t>容错 = 前置过滤 + 过程监控 + 失败分类与自动补救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49039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FFB454"/>
                </a:solidFill>
                <a:latin typeface="Microsoft YaHei"/>
              </a:rPr>
              <a:t>离现交付 = 一个目录，内含内核、图标与网页资源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21208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A9BCD8"/>
                </a:solidFill>
                <a:latin typeface="Microsoft YaHei"/>
              </a:rPr>
              <a:t>Universal Transcoder · 徐某 · 2026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