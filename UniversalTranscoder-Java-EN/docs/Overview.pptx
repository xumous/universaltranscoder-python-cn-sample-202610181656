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1828800"/>
            <a:ext cx="2194560" cy="2194560"/>
          </a:xfrm>
          <a:prstGeom prst="ellipse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286000"/>
            <a:ext cx="1280160" cy="1280160"/>
          </a:xfrm>
          <a:prstGeom prst="ellipse">
            <a:avLst/>
          </a:prstGeom>
          <a:solidFill>
            <a:srgbClr val="5BE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8638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Universal Transcoder for 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7863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A9BCD8"/>
                </a:solidFill>
                <a:latin typeface="Microsoft YaHei"/>
              </a:rPr>
              <a:t>Offline universal conversion on the 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03520"/>
            <a:ext cx="7863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EAF2FF"/>
                </a:solidFill>
                <a:latin typeface="Microsoft YaHei"/>
              </a:rPr>
              <a:t>Author: Xu   |   October 2026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Four media families, one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Four media families, one core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02 / 22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Toolchain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JDK 17 and Gradle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JDK 17 and Gradle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03 / 22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Locating the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Four search paths, real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Four search paths, real verification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04 / 22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Capability probing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Ask the core, then list formats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Ask the core, then list formats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05 / 22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Media probing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Structured container and stream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Structured container and stream data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06 / 22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Command building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Argument lists, safe and consistent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Argument lists, safe and consistent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07 / 22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Container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Extension to muxer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Extension to muxer name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08 / 22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Filter 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Fixed order, no misalignment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Fixed order, no misalignment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09 / 22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Quality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Tier to encoding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Tier to encoding parameters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10 / 22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 key/value progress stream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A key/value progress stream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11 / 22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Job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 one-way state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A one-way state machine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12 / 22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Error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Errors turned into advice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Errors turned into advice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13 / 22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Automatic repair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Two deterministic paths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Two deterministic paths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14 / 22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Document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Images and text to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Images and text to documents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15 / 22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Tabs and a table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Tabs and a table queue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16 / 22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Packaging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 portable application folder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A portable application folder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17 / 22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Build and a real conversion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Build and a real conversion pass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18 / 22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Format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Video, audio, image and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Video, audio, image and document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19 / 22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Measured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Artefact and self-check outcome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Artefact and self-check outcome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20 / 22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Directions for further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Directions for further work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21 / 22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B122A"/>
              </a:gs>
              <a:gs pos="100000">
                <a:srgbClr val="121F3D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109728" cy="566928"/>
          </a:xfrm>
          <a:prstGeom prst="rect">
            <a:avLst/>
          </a:prstGeom>
          <a:solidFill>
            <a:srgbClr val="3E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10896"/>
            <a:ext cx="8229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841248"/>
            <a:ext cx="8595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A9BCD8"/>
                </a:solidFill>
                <a:latin typeface="Microsoft YaHei"/>
              </a:rPr>
              <a:t>Complexity inside, simplicity outside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38404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600" b="1">
                <a:solidFill>
                  <a:srgbClr val="5BE0C0"/>
                </a:solidFill>
                <a:latin typeface="Microsoft YaHei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45920"/>
            <a:ext cx="6583680" cy="4023360"/>
          </a:xfrm>
          <a:prstGeom prst="roundRect">
            <a:avLst>
              <a:gd name="adj" fmla="val 6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874519"/>
            <a:ext cx="61264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one: Complexity inside, simplicity outside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two: the same design principles as the other editions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three: runs offline with no extra dependencies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EAF2FF"/>
                </a:solidFill>
                <a:latin typeface="Microsoft YaHei"/>
              </a:rPr>
              <a:t>• Point four: build and verification really executed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645920"/>
            <a:ext cx="3931920" cy="4023360"/>
          </a:xfrm>
          <a:prstGeom prst="roundRect">
            <a:avLst>
              <a:gd name="adj" fmla="val 6000"/>
            </a:avLst>
          </a:prstGeom>
          <a:solidFill>
            <a:srgbClr val="1F3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26679" y="196596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210312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212140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97180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09560" y="310896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0" y="312724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79" y="3977640"/>
            <a:ext cx="3474720" cy="777240"/>
          </a:xfrm>
          <a:prstGeom prst="roundRect">
            <a:avLst>
              <a:gd name="adj" fmla="val 18000"/>
            </a:avLst>
          </a:prstGeom>
          <a:solidFill>
            <a:srgbClr val="182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4114800"/>
            <a:ext cx="3108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EAF2FF"/>
                </a:solidFill>
                <a:latin typeface="Microsoft YaHei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4133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050" b="0">
                <a:solidFill>
                  <a:srgbClr val="A9BCD8"/>
                </a:solidFill>
                <a:latin typeface="Microsoft YaHei"/>
              </a:rPr>
              <a:t>Ready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0292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5BE0C0"/>
                </a:solidFill>
                <a:latin typeface="Microsoft YaHei"/>
              </a:rPr>
              <a:t>22 / 22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