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Muxer name length</c:v>
                </c:pt>
              </c:strCache>
            </c:strRef>
          </c:tx>
          <c:dPt>
            <c:idx val="0"/>
            <c:spPr>
              <a:solidFill>
                <a:srgbClr val="3EA6FF"/>
              </a:solidFill>
            </c:spPr>
          </c:dPt>
          <c:dPt>
            <c:idx val="1"/>
            <c:spPr>
              <a:solidFill>
                <a:srgbClr val="5BE0C0"/>
              </a:solidFill>
            </c:spPr>
          </c:dPt>
          <c:dPt>
            <c:idx val="2"/>
            <c:spPr>
              <a:solidFill>
                <a:srgbClr val="FFB454"/>
              </a:solidFill>
            </c:spPr>
          </c:dPt>
          <c:dPt>
            <c:idx val="3"/>
            <c:spPr>
              <a:solidFill>
                <a:srgbClr val="9A7BFF"/>
              </a:solidFill>
            </c:spPr>
          </c:dPt>
          <c:dPt>
            <c:idx val="4"/>
            <c:spPr>
              <a:solidFill>
                <a:srgbClr val="3EA6FF"/>
              </a:solidFill>
            </c:spPr>
          </c:dPt>
          <c:dPt>
            <c:idx val="5"/>
            <c:spPr>
              <a:solidFill>
                <a:srgbClr val="5BE0C0"/>
              </a:solidFill>
            </c:spPr>
          </c:dPt>
          <c:cat>
            <c:strRef>
              <c:f>Sheet1!$A$2:$A$7</c:f>
              <c:strCache>
                <c:ptCount val="6"/>
                <c:pt idx="0">
                  <c:v>mkv</c:v>
                </c:pt>
                <c:pt idx="1">
                  <c:v>ts</c:v>
                </c:pt>
                <c:pt idx="2">
                  <c:v>mpg</c:v>
                </c:pt>
                <c:pt idx="3">
                  <c:v>wmv</c:v>
                </c:pt>
                <c:pt idx="4">
                  <c:v>m4a</c:v>
                </c:pt>
                <c:pt idx="5">
                  <c:v>jpg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6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  <c:pt idx="5">
                  <c:v>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Preset count</c:v>
                </c:pt>
              </c:strCache>
            </c:strRef>
          </c:tx>
          <c:dPt>
            <c:idx val="0"/>
            <c:spPr>
              <a:solidFill>
                <a:srgbClr val="3EA6FF"/>
              </a:solidFill>
            </c:spPr>
          </c:dPt>
          <c:dPt>
            <c:idx val="1"/>
            <c:spPr>
              <a:solidFill>
                <a:srgbClr val="5BE0C0"/>
              </a:solidFill>
            </c:spPr>
          </c:dPt>
          <c:dPt>
            <c:idx val="2"/>
            <c:spPr>
              <a:solidFill>
                <a:srgbClr val="FFB454"/>
              </a:solidFill>
            </c:spPr>
          </c:dPt>
          <c:cat>
            <c:strRef>
              <c:f>Sheet1!$A$2:$A$4</c:f>
              <c:strCache>
                <c:ptCount val="3"/>
                <c:pt idx="0">
                  <c:v>Video</c:v>
                </c:pt>
                <c:pt idx="1">
                  <c:v>Audio</c:v>
                </c:pt>
                <c:pt idx="2">
                  <c:v>Image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11</c:v>
                </c:pt>
                <c:pt idx="2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Passed</c:v>
                </c:pt>
              </c:strCache>
            </c:strRef>
          </c:tx>
          <c:dPt>
            <c:idx val="0"/>
            <c:spPr>
              <a:solidFill>
                <a:srgbClr val="3EA6FF"/>
              </a:solidFill>
            </c:spPr>
          </c:dPt>
          <c:dPt>
            <c:idx val="1"/>
            <c:spPr>
              <a:solidFill>
                <a:srgbClr val="5BE0C0"/>
              </a:solidFill>
            </c:spPr>
          </c:dPt>
          <c:dPt>
            <c:idx val="2"/>
            <c:spPr>
              <a:solidFill>
                <a:srgbClr val="FFB454"/>
              </a:solidFill>
            </c:spPr>
          </c:dPt>
          <c:dPt>
            <c:idx val="3"/>
            <c:spPr>
              <a:solidFill>
                <a:srgbClr val="9A7BFF"/>
              </a:solidFill>
            </c:spPr>
          </c:dPt>
          <c:cat>
            <c:strRef>
              <c:f>Sheet1!$A$2:$A$5</c:f>
              <c:strCache>
                <c:ptCount val="4"/>
                <c:pt idx="0">
                  <c:v>Video</c:v>
                </c:pt>
                <c:pt idx="1">
                  <c:v>Audio</c:v>
                </c:pt>
                <c:pt idx="2">
                  <c:v>Image</c:v>
                </c:pt>
                <c:pt idx="3">
                  <c:v>Snapshots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10</c:v>
                </c:pt>
                <c:pt idx="2">
                  <c:v>7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1371600"/>
            <a:ext cx="3108960" cy="3108960"/>
          </a:xfrm>
          <a:prstGeom prst="ellipse">
            <a:avLst/>
          </a:prstGeom>
          <a:solidFill>
            <a:srgbClr val="1A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0"/>
            <a:ext cx="2194560" cy="2194560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2286000"/>
            <a:ext cx="1280160" cy="1280160"/>
          </a:xfrm>
          <a:prstGeom prst="ellipse">
            <a:avLst/>
          </a:prstGeom>
          <a:solidFill>
            <a:srgbClr val="5B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UNIVERSAL FORMAT CONVERSION - FULLY OFFLINE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7863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FFFFF"/>
                </a:solidFill>
                <a:latin typeface="Microsoft YaHei"/>
              </a:rPr>
              <a:t>Universal Transcoder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863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A9BCD8"/>
                </a:solidFill>
                <a:latin typeface="Microsoft YaHei"/>
              </a:rPr>
              <a:t>Video, audio, image and document, all interchangeable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AF2FF"/>
                </a:solidFill>
                <a:latin typeface="Microsoft YaHei"/>
              </a:rPr>
              <a:t>Author: Xu   |   October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At a glance: four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Scale, coverage and measured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600" b="1">
                <a:solidFill>
                  <a:srgbClr val="3EA6FF"/>
                </a:solidFill>
                <a:latin typeface="Microsoft YaHe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8892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media families
video/audio/image/document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0020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82880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600" b="1">
                <a:solidFill>
                  <a:srgbClr val="5BE0C0"/>
                </a:solidFill>
                <a:latin typeface="Microsoft YaHei"/>
              </a:rPr>
              <a:t>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78892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built-in presets
one-click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600" b="1">
                <a:solidFill>
                  <a:srgbClr val="3EA6FF"/>
                </a:solidFill>
                <a:latin typeface="Microsoft YaHei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78892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format matrix cases
all passed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160020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39" y="182880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600" b="1">
                <a:solidFill>
                  <a:srgbClr val="5BE0C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1431" y="278892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UI forms
desktop + 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AF2FF"/>
                </a:solidFill>
                <a:latin typeface="Microsoft YaHei"/>
              </a:rPr>
              <a:t>Core built on FFmpeg: we do not reinvent codecs; we compile intent into exact arguments.
Both front ends share one core and one preset system, so behaviour is identical.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Starting point: what must be 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Four questions that had to be answered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2514600" cy="329184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5BE0C0"/>
                </a:solidFill>
                <a:latin typeface="Microsoft YaHei"/>
              </a:rPr>
              <a:t>Too many formats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Extension is not the muxer name
Choosing wrong fails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45920"/>
            <a:ext cx="2514600" cy="329184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874519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B454"/>
                </a:solidFill>
                <a:latin typeface="Microsoft YaHei"/>
              </a:rPr>
              <a:t>Core differs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46888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Different builds ship
different encoders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514600" cy="329184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5BE0C0"/>
                </a:solidFill>
                <a:latin typeface="Microsoft YaHei"/>
              </a:rPr>
              <a:t>Cryptic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6888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"Invalid argument"
helps nobody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1645920"/>
            <a:ext cx="2514600" cy="329184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19" y="1874519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B454"/>
                </a:solidFill>
                <a:latin typeface="Microsoft YaHei"/>
              </a:rPr>
              <a:t>Must be offline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246888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Must run on a machine
with no 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120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AF2FF"/>
                </a:solidFill>
                <a:latin typeface="Microsoft YaHei"/>
              </a:rPr>
              <a:t>Goal: keep the complexity inside, hand simplicity to the user.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Architecture: four clear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Top-down with single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698480" cy="96012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856232"/>
            <a:ext cx="457200" cy="457200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746504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UI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746504"/>
            <a:ext cx="6949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PyQt window / Vue page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70632"/>
            <a:ext cx="10698480" cy="96012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026664"/>
            <a:ext cx="457200" cy="457200"/>
          </a:xfrm>
          <a:prstGeom prst="ellipse">
            <a:avLst/>
          </a:prstGeom>
          <a:solidFill>
            <a:srgbClr val="5B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2916936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Interface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916936"/>
            <a:ext cx="6949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REST + WebSocket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41064"/>
            <a:ext cx="10698480" cy="96012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4197096"/>
            <a:ext cx="457200" cy="45720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4087368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Core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087368"/>
            <a:ext cx="6949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Probe, build, run, queue, triage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11496"/>
            <a:ext cx="10698480" cy="96012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367528"/>
            <a:ext cx="457200" cy="457200"/>
          </a:xfrm>
          <a:prstGeom prst="ellipse">
            <a:avLst/>
          </a:prstGeom>
          <a:solidFill>
            <a:srgbClr val="9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5257800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257800"/>
            <a:ext cx="6949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FFmpeg / FFprobe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Technology choices: why these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Every choice has a reason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1051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3EA6FF"/>
                </a:solidFill>
                <a:latin typeface="Microsoft YaHei"/>
              </a:rPr>
              <a:t>FFmpeg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31720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CD8"/>
                </a:solidFill>
                <a:latin typeface="Microsoft YaHei"/>
              </a:rPr>
              <a:t>Widest coverage
Single executable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1051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5BE0C0"/>
                </a:solidFill>
                <a:latin typeface="Microsoft YaHei"/>
              </a:rPr>
              <a:t>Python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331720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CD8"/>
                </a:solidFill>
                <a:latin typeface="Microsoft YaHei"/>
              </a:rPr>
              <a:t>Standard library is enough
No extra deps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81051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B454"/>
                </a:solidFill>
                <a:latin typeface="Microsoft YaHei"/>
              </a:rPr>
              <a:t>PyQt6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331720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CD8"/>
                </a:solidFill>
                <a:latin typeface="Microsoft YaHei"/>
              </a:rPr>
              <a:t>Native window
Drag, drop, tables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63931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3EA6FF"/>
                </a:solidFill>
                <a:latin typeface="Microsoft YaHei"/>
              </a:rPr>
              <a:t>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160520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CD8"/>
                </a:solidFill>
                <a:latin typeface="Microsoft YaHei"/>
              </a:rPr>
              <a:t>REST + WebSocket
Async and lean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47472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63931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5BE0C0"/>
                </a:solidFill>
                <a:latin typeface="Microsoft YaHei"/>
              </a:rPr>
              <a:t>Vue 3 + JSX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160520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CD8"/>
                </a:solidFill>
                <a:latin typeface="Microsoft YaHei"/>
              </a:rPr>
              <a:t>Component UI
Builds to static assets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47472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63931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B454"/>
                </a:solidFill>
                <a:latin typeface="Microsoft YaHei"/>
              </a:rPr>
              <a:t>PyInstaller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160520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CD8"/>
                </a:solidFill>
                <a:latin typeface="Microsoft YaHei"/>
              </a:rPr>
              <a:t>No Python needed
Portable output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Step one: find and verify the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Checking that a file exists is not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6035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EAF2FF"/>
                </a:solidFill>
                <a:latin typeface="Microsoft YaHei"/>
              </a:rPr>
              <a:t>• 1. User-specified path (folder or file)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EAF2FF"/>
                </a:solidFill>
                <a:latin typeface="Microsoft YaHei"/>
              </a:rPr>
              <a:t>• 2. Copy shipped with the program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EAF2FF"/>
                </a:solidFill>
                <a:latin typeface="Microsoft YaHei"/>
              </a:rPr>
              <a:t>• 3. Folder next to the executable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EAF2FF"/>
                </a:solidFill>
                <a:latin typeface="Microsoft YaHei"/>
              </a:rPr>
              <a:t>• 4. System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737360"/>
            <a:ext cx="4389120" cy="292608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92024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Every candidate is really executed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46888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Run the version command, check the exit code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Require a version banner in the output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Try the next candidate on any failure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Report a readable message if all fail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AF2FF"/>
                </a:solidFill>
                <a:latin typeface="Microsoft YaHei"/>
              </a:rPr>
              <a:t>Benefit: an unrelated program with a similar name is never mistaken for the core.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Step two: ask the core what it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Three queries, cached and reused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429000" cy="192024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202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3EA6FF"/>
                </a:solidFill>
                <a:latin typeface="Microsoft YaHei"/>
              </a:rPr>
              <a:t>Encoder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146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Which encoders exist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429000" cy="192024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9202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3EA6FF"/>
                </a:solidFill>
                <a:latin typeface="Microsoft YaHei"/>
              </a:rPr>
              <a:t>Muxer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5146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Which containers can be written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429000" cy="192024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3EA6FF"/>
                </a:solidFill>
                <a:latin typeface="Microsoft YaHei"/>
              </a:rPr>
              <a:t>Hardware backends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5146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Which accelerators exist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31920"/>
            <a:ext cx="10881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AF2FF"/>
                </a:solidFill>
                <a:latin typeface="Microsoft YaHei"/>
              </a:rPr>
              <a:t>Results are cached, so probing happens once at start-up.
The UI filters format choices by the probe result: unsupported formats never appear.
If probing fails, a permissive policy is used instead of disabling everything.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Step three: understand the source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Read container and streams as structured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760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Container: format, long name, duration, bit rate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Video stream: codec, resolution, frame rate, pixel format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Audio stream: codec, sample rate, channels, layout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Subtitle stream: language and title tags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691640"/>
            <a:ext cx="4663440" cy="31089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874519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Three fault-tolerance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377440"/>
            <a:ext cx="4206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Fall back field by field when data is missing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Damaged files never raise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Timeouts return a low-confidence result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Step four: compile intent into arguments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Produce an argument list, not a command string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74519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3EA6FF"/>
                </a:solidFill>
                <a:latin typeface="Microsoft YaHei"/>
              </a:rPr>
              <a:t>1. Container aliasing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68880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mkv to matroska
ts to mpegts
mpg to mpeg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74519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3EA6FF"/>
                </a:solidFill>
                <a:latin typeface="Microsoft YaHei"/>
              </a:rPr>
              <a:t>2. Codec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468880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Look up defaults by muxer
Downgrade when invalid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874519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B454"/>
                </a:solidFill>
                <a:latin typeface="Microsoft YaHei"/>
              </a:rPr>
              <a:t>3. Filter assembly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468880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Fixed order
Never swapped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AF2FF"/>
                </a:solidFill>
                <a:latin typeface="Microsoft YaHei"/>
              </a:rPr>
              <a:t>An argument list avoids quoting and spacing issues and structurally prevents command injection.
The three stages turn any user choice into a command the core will accept.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Key detail: extension is not the muxer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Every alias verified against the core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645920"/>
          <a:ext cx="64008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223760" y="1645920"/>
            <a:ext cx="420624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82880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Alias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331720"/>
            <a:ext cx="374903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mkv to matroska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ts to mpegts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mpg to mpeg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wmv to asf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m4a to ipod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jpg/png to image2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Filter chain: order decides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A fixed order avoids hidden misalignment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03120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12435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3EA6FF"/>
                </a:solidFill>
                <a:latin typeface="Microsoft YaHei"/>
              </a:rPr>
              <a:t>Crop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828800" y="2432304"/>
            <a:ext cx="146304" cy="237744"/>
          </a:xfrm>
          <a:prstGeom prst="rightArrow">
            <a:avLst/>
          </a:prstGeom>
          <a:solidFill>
            <a:srgbClr val="A9B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65960" y="2103120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2286000"/>
            <a:ext cx="12435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5BE0C0"/>
                </a:solidFill>
                <a:latin typeface="Microsoft YaHei"/>
              </a:rPr>
              <a:t>Scale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27832" y="2432304"/>
            <a:ext cx="146304" cy="237744"/>
          </a:xfrm>
          <a:prstGeom prst="rightArrow">
            <a:avLst/>
          </a:prstGeom>
          <a:solidFill>
            <a:srgbClr val="A9B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4992" y="2103120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2286000"/>
            <a:ext cx="12435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3EA6FF"/>
                </a:solidFill>
                <a:latin typeface="Microsoft YaHei"/>
              </a:rPr>
              <a:t>Rotate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626864" y="2432304"/>
            <a:ext cx="146304" cy="237744"/>
          </a:xfrm>
          <a:prstGeom prst="rightArrow">
            <a:avLst/>
          </a:prstGeom>
          <a:solidFill>
            <a:srgbClr val="A9B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64024" y="2103120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4024" y="2286000"/>
            <a:ext cx="12435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5BE0C0"/>
                </a:solidFill>
                <a:latin typeface="Microsoft YaHei"/>
              </a:rPr>
              <a:t>Mirror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25896" y="2432304"/>
            <a:ext cx="146304" cy="237744"/>
          </a:xfrm>
          <a:prstGeom prst="rightArrow">
            <a:avLst/>
          </a:prstGeom>
          <a:solidFill>
            <a:srgbClr val="A9B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63056" y="2103120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6" y="2286000"/>
            <a:ext cx="12435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3EA6FF"/>
                </a:solidFill>
                <a:latin typeface="Microsoft YaHei"/>
              </a:rPr>
              <a:t>FPS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424928" y="2432304"/>
            <a:ext cx="146304" cy="237744"/>
          </a:xfrm>
          <a:prstGeom prst="rightArrow">
            <a:avLst/>
          </a:prstGeom>
          <a:solidFill>
            <a:srgbClr val="A9B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62088" y="2103120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62088" y="2286000"/>
            <a:ext cx="12435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5BE0C0"/>
                </a:solidFill>
                <a:latin typeface="Microsoft YaHei"/>
              </a:rPr>
              <a:t>Watermark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23960" y="2432304"/>
            <a:ext cx="146304" cy="237744"/>
          </a:xfrm>
          <a:prstGeom prst="rightArrow">
            <a:avLst/>
          </a:prstGeom>
          <a:solidFill>
            <a:srgbClr val="A9B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61120" y="2103120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2286000"/>
            <a:ext cx="12435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3EA6FF"/>
                </a:solidFill>
                <a:latin typeface="Microsoft YaHei"/>
              </a:rPr>
              <a:t>Subtitle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0222992" y="2432304"/>
            <a:ext cx="146304" cy="237744"/>
          </a:xfrm>
          <a:prstGeom prst="rightArrow">
            <a:avLst/>
          </a:prstGeom>
          <a:solidFill>
            <a:srgbClr val="A9B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360152" y="2103120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60152" y="2286000"/>
            <a:ext cx="12435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5BE0C0"/>
                </a:solidFill>
                <a:latin typeface="Microsoft YaHei"/>
              </a:rPr>
              <a:t>Speed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429000"/>
            <a:ext cx="108813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AF2FF"/>
                </a:solidFill>
                <a:latin typeface="Microsoft YaHei"/>
              </a:rPr>
              <a:t>What breaks if the order changes:
- rotate then crop: misaligned coordinates and the wrong region
- scale then watermark: the watermark deforms with the picture
- subtitle last: guaranteed to sit on the final picture
Every dimension is rounded down to an even number, as mainstream encoders require.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Quality tiers mapped to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Users pick a tier, the core gets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514600" cy="246888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3EA6FF"/>
                </a:solidFill>
                <a:latin typeface="Microsoft YaHei"/>
              </a:rPr>
              <a:t>Lossless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CRF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Largest 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737360"/>
            <a:ext cx="2514600" cy="246888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96596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5BE0C0"/>
                </a:solidFill>
                <a:latin typeface="Microsoft YaHei"/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60604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CRF 20 / 192k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38328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Quality first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37360"/>
            <a:ext cx="2514600" cy="246888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96596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B454"/>
                </a:solidFill>
                <a:latin typeface="Microsoft YaHei"/>
              </a:rPr>
              <a:t>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60604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CRF 23 / 128k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38328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Balanced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1737360"/>
            <a:ext cx="2514600" cy="246888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39" y="196596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9A7BFF"/>
                </a:solidFill>
                <a:latin typeface="Microsoft YaHei"/>
              </a:rPr>
              <a:t>Small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39" y="260604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CRF 28 / 96k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39" y="338328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Sharing 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AF2FF"/>
                </a:solidFill>
                <a:latin typeface="Microsoft YaHei"/>
              </a:rPr>
              <a:t>An explicit user bitrate wins; preset values rank highest so one-click results stay predictable.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Execution and progress: turning a black box transparent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A structured progress stream, not parsed prose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Read key/value progress blocks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Encoded time over duration gives the percentage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Instantaneous speed from consecutive samples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Remaining time derived from speed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Cancel: graceful stop first, force-kill on timeout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691640"/>
            <a:ext cx="4754880" cy="329184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874519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Why not parse human-readable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377440"/>
            <a:ext cx="4297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Human text depends on the locale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Field order can change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Key/value blocks are stable and precise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Instantaneous speed tracks reality better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Job queue: a one-way state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Waiting to running to a terminal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429000" cy="11430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084832"/>
            <a:ext cx="457200" cy="457200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Waiting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429000" cy="11430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720" y="2084832"/>
            <a:ext cx="457200" cy="457200"/>
          </a:xfrm>
          <a:prstGeom prst="ellipse">
            <a:avLst/>
          </a:prstGeom>
          <a:solidFill>
            <a:srgbClr val="5B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201168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Running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429000" cy="11430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0" y="2084832"/>
            <a:ext cx="457200" cy="457200"/>
          </a:xfrm>
          <a:prstGeom prst="ellipse">
            <a:avLst/>
          </a:prstGeom>
          <a:solidFill>
            <a:srgbClr val="5BE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201168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Done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08960"/>
            <a:ext cx="3429000" cy="11430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456432"/>
            <a:ext cx="457200" cy="457200"/>
          </a:xfrm>
          <a:prstGeom prst="ellipse">
            <a:avLst/>
          </a:prstGeom>
          <a:solidFill>
            <a:srgbClr val="F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38328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Failed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108960"/>
            <a:ext cx="3429000" cy="11430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17720" y="3456432"/>
            <a:ext cx="457200" cy="45720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338328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Cancelled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108960"/>
            <a:ext cx="3429000" cy="11430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21040" y="3456432"/>
            <a:ext cx="457200" cy="457200"/>
          </a:xfrm>
          <a:prstGeom prst="ellipse">
            <a:avLst/>
          </a:prstGeom>
          <a:solidFill>
            <a:srgbClr val="9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338328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Skipped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66344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AF2FF"/>
                </a:solidFill>
                <a:latin typeface="Microsoft YaHei"/>
              </a:rPr>
              <a:t>The queue depends on no UI framework and reports only through callbacks, so both front ends reuse it.
It supports a concurrency limit, pause (which only stops taking new jobs), resume, stop and de-duplication.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Error triage: translating errors into advice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More than a dozen failure classes with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Damaged source or mismatched format: replace or repair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Missing file or no permission: check path and locks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Unsupported argument or codec: change the combination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Encoder init failure: switch to a universal codec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No space left: clean up or change the target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Odd dimensions: pad to even automatically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No usable stream: choose another target format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Missing decoder: change the core or convert first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Hardware failure: fall back to software automatically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Triage is best-effort heuristic matching; unmatched cases become unknown and never raise.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Automatic repair: two deterministic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Only act when the cause is certain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49240" cy="301752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EA6FF"/>
                </a:solidFill>
                <a:latin typeface="Microsoft YaHei"/>
              </a:rPr>
              <a:t>Odd dimensions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7548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A9BCD8"/>
                </a:solidFill>
                <a:latin typeface="Microsoft YaHei"/>
              </a:rPr>
              <a:t>Cause: width or height is odd
Action: pad to even and retry once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349240" cy="301752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5BE0C0"/>
                </a:solidFill>
                <a:latin typeface="Microsoft YaHei"/>
              </a:rPr>
              <a:t>Hardware encoding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97480"/>
            <a:ext cx="47548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A9BCD8"/>
                </a:solidFill>
                <a:latin typeface="Microsoft YaHei"/>
              </a:rPr>
              <a:t>Cause: driver, memory or resolution limits
Action: rebuild the command with software encoding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AF2FF"/>
                </a:solidFill>
                <a:latin typeface="Microsoft YaHei"/>
              </a:rPr>
              <a:t>Crucially, the hardware repair rebuilds the whole command instead of appending arguments - a fix that came from real measurement.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Preset system: 35 out-of-the-box recipes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14 video, 11 audio, 10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645920"/>
          <a:ext cx="51206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126480" y="1645920"/>
            <a:ext cx="53035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Scenarios covered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37744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Phone-friendly MP4 with three quality tiers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H.265 high compression, multi-track MKV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WebM for web, FLV for streaming, TS transport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Editing intermediates ProRes and DNxHD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Lossless FLAC, uncompressed WAV, Dolby AC3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Web GIF animation, modern AVIF and WebP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Hardware acceleration: fast when possible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Software by default, hardware as an 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3EA6FF"/>
                </a:solidFill>
                <a:latin typeface="Microsoft YaHei"/>
              </a:rPr>
              <a:t>NVIDIA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NVENC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3736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96596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3EA6FF"/>
                </a:solidFill>
                <a:latin typeface="Microsoft YaHei"/>
              </a:rPr>
              <a:t>Intel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60604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QSV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96596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3EA6FF"/>
                </a:solidFill>
                <a:latin typeface="Microsoft YaHei"/>
              </a:rPr>
              <a:t>AMD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0604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AMF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173736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39" y="196596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3EA6FF"/>
                </a:solidFill>
                <a:latin typeface="Microsoft YaHei"/>
              </a:rPr>
              <a:t>Apple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39" y="260604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VideoToolbox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108813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AF2FF"/>
                </a:solidFill>
                <a:latin typeface="Microsoft YaHei"/>
              </a:rPr>
              <a:t>Presence does not imply usability: hardware encoders can fail on drivers, memory or resolution.
Software encoding is therefore the default so any machine succeeds; hardware is opt-in for speed.
Automatic mode picks hardware encoders in a generality-first order.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Document conversion: no office suite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Three paths, all offline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429000" cy="256032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659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3EA6FF"/>
                </a:solidFill>
                <a:latin typeface="Microsoft YaHei"/>
              </a:rPr>
              <a:t>Images to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5176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Composite transparency onto white
Write many pages at once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429000" cy="256032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9659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PDF to 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65176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Render page by page
Page range and resolution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429000" cy="256032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9659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B454"/>
                </a:solidFill>
                <a:latin typeface="Microsoft YaHei"/>
              </a:rPr>
              <a:t>Text to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65176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9BCD8"/>
                </a:solidFill>
                <a:latin typeface="Microsoft YaHei"/>
              </a:rPr>
              <a:t>Wrap to page width
Hand-built valid 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AF2FF"/>
                </a:solidFill>
                <a:latin typeface="Microsoft YaHei"/>
              </a:rPr>
              <a:t>A failing image or page is skipped and logged without affecting the rest, and no external office software is required.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Desktop: nine tabs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Drop to add, watch progress in a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120640" cy="502920"/>
          </a:xfrm>
          <a:prstGeom prst="roundRect">
            <a:avLst/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83664"/>
            <a:ext cx="914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5BE0C0"/>
                </a:solidFill>
                <a:latin typeface="Microsoft YaHei"/>
              </a:rPr>
              <a:t>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83664"/>
            <a:ext cx="914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5BE0C0"/>
                </a:solidFill>
                <a:latin typeface="Microsoft YaHei"/>
              </a:rPr>
              <a:t>Audio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883664"/>
            <a:ext cx="914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5BE0C0"/>
                </a:solidFill>
                <a:latin typeface="Microsoft YaHei"/>
              </a:rPr>
              <a:t>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883664"/>
            <a:ext cx="914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5BE0C0"/>
                </a:solidFill>
                <a:latin typeface="Microsoft YaHei"/>
              </a:rPr>
              <a:t>Document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883664"/>
            <a:ext cx="914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5BE0C0"/>
                </a:solidFill>
                <a:latin typeface="Microsoft YaHei"/>
              </a:rPr>
              <a:t>Device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514600"/>
            <a:ext cx="5029200" cy="822960"/>
          </a:xfrm>
          <a:prstGeom prst="roundRect">
            <a:avLst>
              <a:gd name="adj" fmla="val 15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6517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Advanced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670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520440"/>
            <a:ext cx="5029200" cy="822960"/>
          </a:xfrm>
          <a:prstGeom prst="roundRect">
            <a:avLst>
              <a:gd name="adj" fmla="val 15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6576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67588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526280"/>
            <a:ext cx="5029200" cy="822960"/>
          </a:xfrm>
          <a:prstGeom prst="roundRect">
            <a:avLst>
              <a:gd name="adj" fmla="val 15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6634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Settings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68172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1645920"/>
            <a:ext cx="493776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182880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Interaction highlights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377440"/>
            <a:ext cx="4480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Drop files, import folders recursively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Automatic de-duplication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Live progress, speed and time left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Double-click for failure details and advice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Preview or copy the exact command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Web app: the same core, another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20 endpoints plus one progress channel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3EA6FF"/>
                </a:solidFill>
                <a:latin typeface="Microsoft YaHei"/>
              </a:rPr>
              <a:t>Backend endpoint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EAF2FF"/>
                </a:solidFill>
                <a:latin typeface="Microsoft YaHei"/>
              </a:rPr>
              <a:t>• System and capability: system, presets, formats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EAF2FF"/>
                </a:solidFill>
                <a:latin typeface="Microsoft YaHei"/>
              </a:rPr>
              <a:t>• Files and probing: browse, probe, open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EAF2FF"/>
                </a:solidFill>
                <a:latin typeface="Microsoft YaHei"/>
              </a:rPr>
              <a:t>• Settings: read and save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EAF2FF"/>
                </a:solidFill>
                <a:latin typeface="Microsoft YaHei"/>
              </a:rPr>
              <a:t>• Jobs: add, remove, clear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EAF2FF"/>
                </a:solidFill>
                <a:latin typeface="Microsoft YaHei"/>
              </a:rPr>
              <a:t>• Queue: start, pause, resume, stop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EAF2FF"/>
                </a:solidFill>
                <a:latin typeface="Microsoft YaHei"/>
              </a:rPr>
              <a:t>• Extras: snapshot and document conversion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493776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82880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16 front-end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480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Shell: NavTabs, Dock, ui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Four panels: video, audio, image, document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Files: FilePanel, FileBrowser, OutputSection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Jobs: TaskTable, QueuePanel, SettingsPanel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>
                <a:solidFill>
                  <a:srgbClr val="A9BCD8"/>
                </a:solidFill>
                <a:latin typeface="Microsoft YaHei"/>
              </a:rPr>
              <a:t>• Presets: PresetBar, AboutPanel, AdvancedPanel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Verification: 30 of 30 passed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Exhaustive, not sampled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645920"/>
          <a:ext cx="65836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06640" y="1645920"/>
            <a:ext cx="402336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82880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5BE0C0"/>
                </a:solidFill>
                <a:latin typeface="Microsoft YaHei"/>
              </a:rPr>
              <a:t>The key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377440"/>
            <a:ext cx="3566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A9BCD8"/>
                </a:solidFill>
                <a:latin typeface="Microsoft YaHei"/>
              </a:rPr>
              <a:t>• Do not trust the exit code alone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A9BCD8"/>
                </a:solidFill>
                <a:latin typeface="Microsoft YaHei"/>
              </a:rPr>
              <a:t>• Probe the output again to confirm its type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A9BCD8"/>
                </a:solidFill>
                <a:latin typeface="Microsoft YaHei"/>
              </a:rPr>
              <a:t>• Rule out plausible but useless outputs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A9BCD8"/>
                </a:solidFill>
                <a:latin typeface="Microsoft YaHei"/>
              </a:rPr>
              <a:t>• The core itself was verified by its version banner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Nine real defects fixed along the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Each one came from a real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429000" cy="100584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1947672"/>
            <a:ext cx="475488" cy="475488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93392"/>
            <a:ext cx="4754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B122A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7452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Muxer aliasing for mkv, ts and mpg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429000" cy="100584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44568" y="1947672"/>
            <a:ext cx="475488" cy="475488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993392"/>
            <a:ext cx="4754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B122A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187452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Default codec table keyed by muxer name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429000" cy="100584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47888" y="1947672"/>
            <a:ext cx="475488" cy="475488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993392"/>
            <a:ext cx="4754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B122A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87452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Dedicated image target 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26080"/>
            <a:ext cx="3429000" cy="100584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" y="3182112"/>
            <a:ext cx="475488" cy="475488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227832"/>
            <a:ext cx="4754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B122A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10896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Combo lookup distinguishes empty from unselected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2926080"/>
            <a:ext cx="3429000" cy="100584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44568" y="3182112"/>
            <a:ext cx="475488" cy="475488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4568" y="3227832"/>
            <a:ext cx="4754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B122A"/>
                </a:solidFill>
                <a:latin typeface="Microsoft YaHe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310896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Hardware repair rebuilds the whole command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2926080"/>
            <a:ext cx="3429000" cy="100584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47888" y="3182112"/>
            <a:ext cx="475488" cy="475488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3227832"/>
            <a:ext cx="4754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B122A"/>
                </a:solidFill>
                <a:latin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10896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Removed line buffering on a binary pipe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160520"/>
            <a:ext cx="3429000" cy="100584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1248" y="4416552"/>
            <a:ext cx="475488" cy="475488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462272"/>
            <a:ext cx="4754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B122A"/>
                </a:solidFill>
                <a:latin typeface="Microsoft YaHe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34340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Ensure the output folder before running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4160520"/>
            <a:ext cx="3429000" cy="100584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44568" y="4416552"/>
            <a:ext cx="475488" cy="475488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44568" y="4462272"/>
            <a:ext cx="4754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B122A"/>
                </a:solidFill>
                <a:latin typeface="Microsoft YaHei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6360" y="434340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All entry points go through the main function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160520"/>
            <a:ext cx="3429000" cy="100584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47888" y="4416552"/>
            <a:ext cx="475488" cy="475488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47888" y="4462272"/>
            <a:ext cx="4754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B122A"/>
                </a:solidFill>
                <a:latin typeface="Microsoft YaHei"/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434340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Provide fallback streams in a windowed build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Packaging: one folder, copy and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Six build steps, stop on the first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3EA6FF"/>
                </a:solidFill>
                <a:latin typeface="Microsoft YaHei"/>
              </a:rPr>
              <a:t>Create the environment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5456" y="18288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5456" y="2286000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5BE0C0"/>
                </a:solidFill>
                <a:latin typeface="Microsoft YaHei"/>
              </a:rPr>
              <a:t>Install dependencies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3984" y="18288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2286000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3EA6FF"/>
                </a:solidFill>
                <a:latin typeface="Microsoft YaHei"/>
              </a:rPr>
              <a:t>Generate the icon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18288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286000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5BE0C0"/>
                </a:solidFill>
                <a:latin typeface="Microsoft YaHei"/>
              </a:rPr>
              <a:t>Build the front 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288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3EA6FF"/>
                </a:solidFill>
                <a:latin typeface="Microsoft YaHei"/>
              </a:rPr>
              <a:t>Core self-check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59568" y="18288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59568" y="2286000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5BE0C0"/>
                </a:solidFill>
                <a:latin typeface="Microsoft YaHei"/>
              </a:rPr>
              <a:t>Package the executable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6616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AF2FF"/>
                </a:solidFill>
                <a:latin typeface="Microsoft YaHei"/>
              </a:rPr>
              <a:t>The output uses the one-folder portable layout: core, icon and web assets all in one directory.
It needs no extra runtime, no Python installation and no network.
Copy the folder to an offline Windows machine and it runs - that is the offline-ready deliverable.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Closing: making universality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Verifiable, reproducible,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Universal = 4 media families, 35 presets, 30 of 30 matrix cases 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5BE0C0"/>
                </a:solidFill>
                <a:latin typeface="Microsoft YaHei"/>
              </a:rPr>
              <a:t>Tolerant = capability filtering, live monitoring, error triage and automatic repair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B454"/>
                </a:solidFill>
                <a:latin typeface="Microsoft YaHei"/>
              </a:rPr>
              <a:t>Offline deliverable = one folder holding the core, the icon and the web assets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120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A9BCD8"/>
                </a:solidFill>
                <a:latin typeface="Microsoft YaHei"/>
              </a:rPr>
              <a:t>Universal Transcoder - Xu - 2026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